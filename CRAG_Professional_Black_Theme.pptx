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370625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>
                <a:solidFill>
                  <a:srgbClr val="FFFFFF"/>
                </a:solidFill>
              </a:rPr>
              <a:t>Corrective </a:t>
            </a:r>
            <a:r>
              <a:rPr sz="2400" b="1" dirty="0">
                <a:solidFill>
                  <a:srgbClr val="FFFFFF"/>
                </a:solidFill>
              </a:rPr>
              <a:t>Retrieval‑Augmented</a:t>
            </a:r>
            <a:r>
              <a:rPr sz="3400" b="1" dirty="0">
                <a:solidFill>
                  <a:srgbClr val="FFFFFF"/>
                </a:solidFill>
              </a:rPr>
              <a:t> Generation (CRAG)</a:t>
            </a:r>
          </a:p>
          <a:p>
            <a:pPr>
              <a:defRPr sz="1600"/>
            </a:pPr>
            <a:r>
              <a:rPr dirty="0" sz="1400">
                <a:solidFill>
                  <a:srgbClr val="FFFFFF"/>
                </a:solidFill>
              </a:rPr>
              <a:t>Improving Accuracy, Trust, and Safety of Enterprise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1671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 sz="1400">
                <a:solidFill>
                  <a:srgbClr val="FFFFFF"/>
                </a:solidFill>
              </a:rPr>
              <a:t>What is CRAG?</a:t>
            </a:r>
          </a:p>
          <a:p>
            <a:pPr lvl="1">
              <a:defRPr sz="1400"/>
            </a:pPr>
            <a:r>
              <a:rPr dirty="0" sz="1400">
                <a:solidFill>
                  <a:srgbClr val="FFFFFF"/>
                </a:solidFill>
              </a:rPr>
              <a:t>CRAG is an advanced Retrieval‑Augmented Generation technique.</a:t>
            </a:r>
          </a:p>
          <a:p>
            <a:pPr lvl="1">
              <a:defRPr sz="1400"/>
            </a:pPr>
            <a:r>
              <a:rPr dirty="0" sz="1400">
                <a:solidFill>
                  <a:srgbClr val="FFFFFF"/>
                </a:solidFill>
              </a:rPr>
              <a:t>It validates retrieved documents before generating answers.</a:t>
            </a:r>
          </a:p>
          <a:p>
            <a:pPr lvl="1">
              <a:defRPr sz="1400"/>
            </a:pPr>
            <a:r>
              <a:rPr dirty="0" sz="1400">
                <a:solidFill>
                  <a:srgbClr val="FFFFFF"/>
                </a:solidFill>
              </a:rPr>
              <a:t>If the retrieved context is weak or irrelevant, it automatically corrects it through re‑retrieval.</a:t>
            </a:r>
          </a:p>
          <a:p>
            <a:r>
              <a:rPr dirty="0" sz="1400">
                <a:solidFill>
                  <a:srgbClr val="FFFFFF"/>
                </a:solidFill>
              </a:rPr>
              <a:t/>
            </a:r>
            <a:br>
              <a:rPr dirty="0"/>
            </a:br>
            <a:r>
              <a:rPr dirty="0" sz="1400">
                <a:solidFill>
                  <a:srgbClr val="FFFFFF"/>
                </a:solidFill>
              </a:rPr>
              <a:t>Why do we use CRAG?</a:t>
            </a:r>
          </a:p>
          <a:p>
            <a:pPr lvl="1">
              <a:defRPr sz="1400"/>
            </a:pPr>
            <a:r>
              <a:rPr dirty="0" sz="1400">
                <a:solidFill>
                  <a:srgbClr val="FFFFFF"/>
                </a:solidFill>
              </a:rPr>
              <a:t>Reduces hallucinations and incorrect responses</a:t>
            </a:r>
          </a:p>
          <a:p>
            <a:pPr lvl="1">
              <a:defRPr sz="1400"/>
            </a:pPr>
            <a:r>
              <a:rPr dirty="0" sz="1400">
                <a:solidFill>
                  <a:srgbClr val="FFFFFF"/>
                </a:solidFill>
              </a:rPr>
              <a:t>Ensures high‑confidence, verified information</a:t>
            </a:r>
          </a:p>
          <a:p>
            <a:pPr lvl="1">
              <a:defRPr sz="1400"/>
            </a:pPr>
            <a:r>
              <a:rPr dirty="0" sz="1400">
                <a:solidFill>
                  <a:srgbClr val="FFFFFF"/>
                </a:solidFill>
              </a:rPr>
              <a:t>Suitable for safety‑critical and compliance‑driven environments like aviation</a:t>
            </a:r>
          </a:p>
          <a:p>
            <a:r>
              <a:rPr dirty="0" sz="1400">
                <a:solidFill>
                  <a:srgbClr val="FFFFFF"/>
                </a:solidFill>
              </a:rPr>
              <a:t/>
            </a:r>
            <a:br>
              <a:rPr dirty="0"/>
            </a:br>
            <a:r>
              <a:rPr dirty="0" sz="1400">
                <a:solidFill>
                  <a:srgbClr val="FFFFFF"/>
                </a:solidFill>
              </a:rPr>
              <a:t>Business Benefits</a:t>
            </a:r>
          </a:p>
          <a:p>
            <a:pPr lvl="1">
              <a:defRPr sz="1400"/>
            </a:pPr>
            <a:r>
              <a:rPr dirty="0" sz="1400">
                <a:solidFill>
                  <a:srgbClr val="FFFFFF"/>
                </a:solidFill>
              </a:rPr>
              <a:t>Improves trust in AI‑driven decision support systems</a:t>
            </a:r>
          </a:p>
          <a:p>
            <a:pPr lvl="1">
              <a:defRPr sz="1400"/>
            </a:pPr>
            <a:r>
              <a:rPr dirty="0" sz="1400">
                <a:solidFill>
                  <a:srgbClr val="FFFFFF"/>
                </a:solidFill>
              </a:rPr>
              <a:t>Reduces operational and compliance risk</a:t>
            </a:r>
          </a:p>
          <a:p>
            <a:pPr lvl="1">
              <a:defRPr sz="1400"/>
            </a:pPr>
            <a:r>
              <a:rPr dirty="0" sz="1400">
                <a:solidFill>
                  <a:srgbClr val="FFFFFF"/>
                </a:solidFill>
              </a:rPr>
              <a:t>Enables reliable use of AI for SOPs, manuals, and internal knowledge systems</a:t>
            </a:r>
          </a:p>
        </p:txBody>
      </p:sp>
      <p:pic>
        <p:nvPicPr>
          <p:cNvPr id="4" name="Picture 3" descr="A_flowchart_in_the_digital_illustration_displays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4080753" cy="41036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86527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dirty="0" sz="1400">
                <a:solidFill>
                  <a:srgbClr val="FFFFFF"/>
                </a:solidFill>
              </a:rPr>
              <a:t>Key Takeaway: CRAG ensures AI responses are generated only after validating and correcting retrieved knowledge </a:t>
            </a:r>
            <a:endParaRPr lang="en-US" dirty="0" smtClean="0"/>
          </a:p>
          <a:p>
            <a:pPr>
              <a:defRPr sz="1400" b="1"/>
            </a:pPr>
            <a:r>
              <a:rPr dirty="0" smtClean="0" sz="1400">
                <a:solidFill>
                  <a:srgbClr val="FFFFFF"/>
                </a:solidFill>
              </a:rPr>
              <a:t>— </a:t>
            </a:r>
            <a:r>
              <a:rPr dirty="0" sz="1400">
                <a:solidFill>
                  <a:srgbClr val="FFFFFF"/>
                </a:solidFill>
              </a:rPr>
              <a:t>making AI safer and enterprise‑ready.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</Words>
  <Application>Microsoft Office PowerPoint</Application>
  <PresentationFormat>On-screen Show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krishna jaiswal</dc:creator>
  <cp:keywords/>
  <dc:description>generated using python-pptx</dc:description>
  <cp:lastModifiedBy>krishna jaiswal</cp:lastModifiedBy>
  <cp:revision>3</cp:revision>
  <dcterms:created xsi:type="dcterms:W3CDTF">2013-01-27T09:14:16Z</dcterms:created>
  <dcterms:modified xsi:type="dcterms:W3CDTF">2026-02-09T16:06:20Z</dcterms:modified>
  <cp:category/>
</cp:coreProperties>
</file>